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972800" cy="17922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2011" y="-1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n harris" userId="b465892b5f790ea6" providerId="LiveId" clId="{34BC1A92-8528-4529-BD24-7281B0EE1301}"/>
    <pc:docChg chg="undo custSel modSld">
      <pc:chgData name="khan harris" userId="b465892b5f790ea6" providerId="LiveId" clId="{34BC1A92-8528-4529-BD24-7281B0EE1301}" dt="2026-10-31T16:54:56.093" v="5" actId="14100"/>
      <pc:docMkLst>
        <pc:docMk/>
      </pc:docMkLst>
      <pc:sldChg chg="addSp delSp modSp mod">
        <pc:chgData name="khan harris" userId="b465892b5f790ea6" providerId="LiveId" clId="{34BC1A92-8528-4529-BD24-7281B0EE1301}" dt="2026-10-31T16:54:56.093" v="5" actId="14100"/>
        <pc:sldMkLst>
          <pc:docMk/>
          <pc:sldMk cId="0" sldId="256"/>
        </pc:sldMkLst>
        <pc:picChg chg="add del">
          <ac:chgData name="khan harris" userId="b465892b5f790ea6" providerId="LiveId" clId="{34BC1A92-8528-4529-BD24-7281B0EE1301}" dt="2026-10-31T16:54:40.253" v="1" actId="22"/>
          <ac:picMkLst>
            <pc:docMk/>
            <pc:sldMk cId="0" sldId="256"/>
            <ac:picMk id="101" creationId="{F23BD10C-E41D-EA7C-5D57-20566795EF6D}"/>
          </ac:picMkLst>
        </pc:picChg>
        <pc:picChg chg="add mod">
          <ac:chgData name="khan harris" userId="b465892b5f790ea6" providerId="LiveId" clId="{34BC1A92-8528-4529-BD24-7281B0EE1301}" dt="2026-10-31T16:54:56.093" v="5" actId="14100"/>
          <ac:picMkLst>
            <pc:docMk/>
            <pc:sldMk cId="0" sldId="256"/>
            <ac:picMk id="103" creationId="{22AEBCB1-4AD0-D66C-ADFE-644E396EC88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00" cy="17922240"/>
          </a:xfrm>
          <a:prstGeom prst="rect">
            <a:avLst/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0" cy="1536192"/>
          </a:xfrm>
          <a:prstGeom prst="rect">
            <a:avLst/>
          </a:prstGeom>
          <a:solidFill>
            <a:srgbClr val="38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WayBionic_actual_logo_embe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989527" cy="987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309250"/>
            <a:ext cx="9290304" cy="36850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2" b="1">
                <a:solidFill>
                  <a:srgbClr val="FFFFFF"/>
                </a:solidFill>
                <a:latin typeface="Aptos"/>
              </a:rPr>
              <a:t>WAYBIONIC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639257"/>
            <a:ext cx="9272016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1">
                <a:solidFill>
                  <a:srgbClr val="83DDC0"/>
                </a:solidFill>
                <a:latin typeface="Aptos"/>
              </a:rPr>
              <a:t>ENGINEERING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154338"/>
            <a:ext cx="10058400" cy="45354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64" b="1">
                <a:solidFill>
                  <a:srgbClr val="FFFFFF"/>
                </a:solidFill>
                <a:latin typeface="Aptos"/>
              </a:rPr>
              <a:t>Ground station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297625"/>
            <a:ext cx="6181344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0">
                <a:solidFill>
                  <a:srgbClr val="DCD6F1"/>
                </a:solidFill>
                <a:latin typeface="Aptos"/>
              </a:rPr>
              <a:t>Operator control · software checks · CAN drive interface · live monitoring</a:t>
            </a:r>
          </a:p>
        </p:txBody>
      </p:sp>
      <p:sp>
        <p:nvSpPr>
          <p:cNvPr id="9" name="Oval 8"/>
          <p:cNvSpPr/>
          <p:nvPr/>
        </p:nvSpPr>
        <p:spPr>
          <a:xfrm>
            <a:off x="9489643" y="309067"/>
            <a:ext cx="40233" cy="40233"/>
          </a:xfrm>
          <a:prstGeom prst="ellipse">
            <a:avLst/>
          </a:prstGeom>
          <a:solidFill>
            <a:srgbClr val="83D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934041" y="515721"/>
            <a:ext cx="29260" cy="29260"/>
          </a:xfrm>
          <a:prstGeom prst="ellipse">
            <a:avLst/>
          </a:prstGeom>
          <a:solidFill>
            <a:srgbClr val="F4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259568" y="237744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536192"/>
            <a:ext cx="10972800" cy="54864"/>
          </a:xfrm>
          <a:prstGeom prst="rect">
            <a:avLst/>
          </a:prstGeom>
          <a:solidFill>
            <a:srgbClr val="F4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2608" y="1755648"/>
            <a:ext cx="10387584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382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608" y="1755648"/>
            <a:ext cx="73152" cy="987552"/>
          </a:xfrm>
          <a:prstGeom prst="roundRect">
            <a:avLst>
              <a:gd name="adj" fmla="val 7407"/>
            </a:avLst>
          </a:prstGeom>
          <a:solidFill>
            <a:srgbClr val="F4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" y="1901129"/>
            <a:ext cx="10058400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1">
                <a:solidFill>
                  <a:srgbClr val="F48BB8"/>
                </a:solidFill>
                <a:latin typeface="Aptos"/>
              </a:rPr>
              <a:t>SOFTWARE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102937"/>
            <a:ext cx="100584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The ROS 2 ground station turns controller input into checked joint commands.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294961"/>
            <a:ext cx="100584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Video and diagnostics remain separate from arm motion.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486985"/>
            <a:ext cx="100584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The carrier link is software-implemented; powered five-drive validation is not documented.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2902305"/>
            <a:ext cx="10058400" cy="2834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382D62"/>
                </a:solidFill>
                <a:latin typeface="Aptos"/>
              </a:rPr>
              <a:t>01.  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163001"/>
            <a:ext cx="10058400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0">
                <a:solidFill>
                  <a:srgbClr val="657087"/>
                </a:solidFill>
                <a:latin typeface="Aptos"/>
              </a:rPr>
              <a:t>Verified against the ROS 2 paths on main. The hardware connection is coded. It is not powered-validated.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" y="3401568"/>
            <a:ext cx="10387584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382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waybionic_software_architecture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74720"/>
            <a:ext cx="10241280" cy="413308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92608" y="7882128"/>
            <a:ext cx="5120640" cy="212140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382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8912" y="8046720"/>
            <a:ext cx="45720" cy="1792224"/>
          </a:xfrm>
          <a:prstGeom prst="roundRect">
            <a:avLst>
              <a:gd name="adj" fmla="val 5000"/>
            </a:avLst>
          </a:prstGeom>
          <a:solidFill>
            <a:srgbClr val="83D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8038673"/>
            <a:ext cx="4572000" cy="2267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382D62"/>
                </a:solidFill>
                <a:latin typeface="Aptos"/>
              </a:rPr>
              <a:t>02.  TELEOPERATION + INCISION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833000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An Xbox or DualSense controller becomes a 120 Hz stream 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851288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joint setpoints: base, upper, Cartesian, and incision. The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869576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incision group stores the tip pose when selected, then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887864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inserts, withdraws, or tilts so the tool axis stays on that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906152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point. Sideways homing is blocked while the tip is inserted.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924440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These behaviours run in software on simulated drives, not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942728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a clinical procedure.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59552" y="7882128"/>
            <a:ext cx="5120640" cy="212140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382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705856" y="8046720"/>
            <a:ext cx="45720" cy="1792224"/>
          </a:xfrm>
          <a:prstGeom prst="roundRect">
            <a:avLst>
              <a:gd name="adj" fmla="val 5000"/>
            </a:avLst>
          </a:prstGeom>
          <a:solidFill>
            <a:srgbClr val="A38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88736" y="8038673"/>
            <a:ext cx="4572000" cy="2267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382D62"/>
                </a:solidFill>
                <a:latin typeface="Aptos"/>
              </a:rPr>
              <a:t>03.  COLLISION + JOINT LIMITS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8736" y="833000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Before a command is sent, the next pose is checked against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88736" y="851288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the URDF joint ranges and collision boxes on the base,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8736" y="869576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shoulder, upper arm, forearm, wrist, and tool. A step that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8736" y="887864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would pass a limit, leave the tip out of reach, or deepen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88736" y="906152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contact is discarded. The controller rumbles once and the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88736" y="924440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label names the cause. Ranges on this model are provisional;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8736" y="9427281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the boxes come from the committed meshes, not a live CAD scan.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" y="10149840"/>
            <a:ext cx="5120640" cy="2267712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382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38912" y="10314432"/>
            <a:ext cx="45720" cy="1938528"/>
          </a:xfrm>
          <a:prstGeom prst="roundRect">
            <a:avLst>
              <a:gd name="adj" fmla="val 5000"/>
            </a:avLst>
          </a:prstGeom>
          <a:solidFill>
            <a:srgbClr val="C69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" y="10306385"/>
            <a:ext cx="4572000" cy="2267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382D62"/>
                </a:solidFill>
                <a:latin typeface="Aptos"/>
              </a:rPr>
              <a:t>04.  CAN + DRIVE FEEDBACK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1059771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The same drive node used in simulation sends MKS SERVO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1078059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frames through a UNO R4 carrier: USB serial to a 1 Mbit/s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1096347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CAN bus. Replies become joint states. A drive that stops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1114635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answering, jumps, or lags its target stops the arm. Real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1132923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drives stay still until zeroed, and stop if commands go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1151211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silent. The carrier e-stop input is not wired. Software tests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1169499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and virtual CAN cover this path. A powered five-drive run 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1187787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not in the merged record.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59552" y="10149840"/>
            <a:ext cx="5120640" cy="2267712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382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705856" y="10314432"/>
            <a:ext cx="45720" cy="1938528"/>
          </a:xfrm>
          <a:prstGeom prst="roundRect">
            <a:avLst>
              <a:gd name="adj" fmla="val 5000"/>
            </a:avLst>
          </a:prstGeom>
          <a:solidFill>
            <a:srgbClr val="24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88736" y="10306385"/>
            <a:ext cx="4572000" cy="2267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382D62"/>
                </a:solidFill>
                <a:latin typeface="Aptos"/>
              </a:rPr>
              <a:t>05.  DOCTOR VIEW + DIAGNOSTICS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88736" y="1059771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A camera computer stamps each frame and sends JPEG images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88736" y="1078059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over TCP. RViz shows them as Doctor View and reports frame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88736" y="1096347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rate and capture-to-arrival delay. A webcam or a video file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88736" y="1114635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stands in until a procedure camera is chosen. The delay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88736" y="1132923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excludes time in the sensor and on the display. The monitor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88736" y="1151211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lists controller, teleop, drive, bus, and camera health.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88736" y="11694993"/>
            <a:ext cx="457200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0">
                <a:solidFill>
                  <a:srgbClr val="28304D"/>
                </a:solidFill>
                <a:latin typeface="Aptos"/>
              </a:rPr>
              <a:t>Video does not enter the motion-control loop.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8" y="12631521"/>
            <a:ext cx="10058400" cy="2834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382D62"/>
                </a:solidFill>
                <a:latin typeface="Aptos"/>
              </a:rPr>
              <a:t>06.  SOFTWARE VALIDATION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2608" y="12892217"/>
            <a:ext cx="10058400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0">
                <a:solidFill>
                  <a:srgbClr val="657087"/>
                </a:solidFill>
                <a:latin typeface="Aptos"/>
              </a:rPr>
              <a:t>Three results safe to print. Sources rechecked against merged PR descriptions on 27 Oct 2026.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92608" y="13149072"/>
            <a:ext cx="3364992" cy="117043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382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75488" y="13279282"/>
            <a:ext cx="3154680" cy="45354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64" b="1">
                <a:solidFill>
                  <a:srgbClr val="382D62"/>
                </a:solidFill>
                <a:latin typeface="Aptos"/>
              </a:rPr>
              <a:t>81,421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" y="13633521"/>
            <a:ext cx="315468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1">
                <a:solidFill>
                  <a:srgbClr val="504079"/>
                </a:solidFill>
                <a:latin typeface="Aptos"/>
              </a:rPr>
              <a:t>cases, 0 mismatches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13843193"/>
            <a:ext cx="3154680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0">
                <a:solidFill>
                  <a:srgbClr val="657087"/>
                </a:solidFill>
                <a:latin typeface="Aptos"/>
              </a:rPr>
              <a:t>C++ vs Python frames · software only · PR #40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03904" y="13149072"/>
            <a:ext cx="3364992" cy="117043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382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986784" y="13279282"/>
            <a:ext cx="3154680" cy="45354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64" b="1">
                <a:solidFill>
                  <a:srgbClr val="382D62"/>
                </a:solidFill>
                <a:latin typeface="Aptos"/>
              </a:rPr>
              <a:t>19 + 11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4" y="13633521"/>
            <a:ext cx="315468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1">
                <a:solidFill>
                  <a:srgbClr val="504079"/>
                </a:solidFill>
                <a:latin typeface="Aptos"/>
              </a:rPr>
              <a:t>virtual-CAN tests passed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86784" y="13843193"/>
            <a:ext cx="3154680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0">
                <a:solidFill>
                  <a:srgbClr val="657087"/>
                </a:solidFill>
                <a:latin typeface="Aptos"/>
              </a:rPr>
              <a:t>vcan host + four-node · not hardware · PR #45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0" y="13149072"/>
            <a:ext cx="3364992" cy="117043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382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498079" y="13279282"/>
            <a:ext cx="3154680" cy="45354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64" b="1">
                <a:solidFill>
                  <a:srgbClr val="382D62"/>
                </a:solidFill>
                <a:latin typeface="Aptos"/>
              </a:rPr>
              <a:t>30 fps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79" y="13633521"/>
            <a:ext cx="315468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8" b="1">
                <a:solidFill>
                  <a:srgbClr val="504079"/>
                </a:solidFill>
                <a:latin typeface="Aptos"/>
              </a:rPr>
              <a:t>2 ms capture-to-arrival at 1280×720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8079" y="13843193"/>
            <a:ext cx="3154680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0">
                <a:solidFill>
                  <a:srgbClr val="657087"/>
                </a:solidFill>
                <a:latin typeface="Aptos"/>
              </a:rPr>
              <a:t>Test video, not a webcam · PR #36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2608" y="14917521"/>
            <a:ext cx="10058400" cy="2834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382D62"/>
                </a:solidFill>
                <a:latin typeface="Aptos"/>
              </a:rPr>
              <a:t>07.  OPERATOR INTERFACE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8" y="15178217"/>
            <a:ext cx="10058400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0">
                <a:solidFill>
                  <a:srgbClr val="657087"/>
                </a:solidFill>
                <a:latin typeface="Aptos"/>
              </a:rPr>
              <a:t>Real captures from simulated teleop on main (cf3e887), 26 Oct 2026. No generated screenshots.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92608" y="15435072"/>
            <a:ext cx="3291840" cy="1719072"/>
          </a:xfrm>
          <a:prstGeom prst="roundRect">
            <a:avLst>
              <a:gd name="adj" fmla="val 6666"/>
            </a:avLst>
          </a:prstGeom>
          <a:solidFill>
            <a:srgbClr val="EFEAF8"/>
          </a:solidFill>
          <a:ln w="8255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WayBionic_preview_captur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5435072"/>
            <a:ext cx="3291840" cy="171907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92608" y="17244761"/>
            <a:ext cx="10058400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1">
                <a:solidFill>
                  <a:srgbClr val="382D62"/>
                </a:solidFill>
                <a:latin typeface="Aptos"/>
              </a:rPr>
              <a:t>RViz simulated arm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2608" y="17417856"/>
            <a:ext cx="10058400" cy="1700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4" b="0">
                <a:solidFill>
                  <a:srgbClr val="657087"/>
                </a:solidFill>
                <a:latin typeface="Aptos"/>
              </a:rPr>
              <a:t>Cartesian autoplay · simulated drives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40480" y="15435072"/>
            <a:ext cx="3291840" cy="1719072"/>
          </a:xfrm>
          <a:prstGeom prst="roundRect">
            <a:avLst>
              <a:gd name="adj" fmla="val 6666"/>
            </a:avLst>
          </a:prstGeom>
          <a:solidFill>
            <a:srgbClr val="EFEAF8"/>
          </a:solidFill>
          <a:ln w="8255">
            <a:solidFill>
              <a:srgbClr val="E4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7" name="Picture 86" descr="WayBionic_preview_captur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5435072"/>
            <a:ext cx="3291840" cy="1719072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3840480" y="17244761"/>
            <a:ext cx="6912864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1">
                <a:solidFill>
                  <a:srgbClr val="382D62"/>
                </a:solidFill>
                <a:latin typeface="Aptos"/>
              </a:rPr>
              <a:t>Engineering Monitor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40480" y="17417856"/>
            <a:ext cx="6912864" cy="1700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4" b="0">
                <a:solidFill>
                  <a:srgbClr val="657087"/>
                </a:solidFill>
                <a:latin typeface="Aptos"/>
              </a:rPr>
              <a:t>Live /diagnostics · simulated teleop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388352" y="15435072"/>
            <a:ext cx="3291840" cy="1719072"/>
          </a:xfrm>
          <a:prstGeom prst="roundRect">
            <a:avLst>
              <a:gd name="adj" fmla="val 6666"/>
            </a:avLst>
          </a:prstGeom>
          <a:solidFill>
            <a:srgbClr val="F8F4FC"/>
          </a:solidFill>
          <a:ln w="13208">
            <a:solidFill>
              <a:srgbClr val="A38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199632" y="15830641"/>
            <a:ext cx="5669280" cy="25511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6" b="1">
                <a:solidFill>
                  <a:srgbClr val="F48BB8"/>
                </a:solidFill>
                <a:latin typeface="Aptos"/>
              </a:rPr>
              <a:t>PENDING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99632" y="16102401"/>
            <a:ext cx="5669280" cy="198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8" b="1">
                <a:solidFill>
                  <a:srgbClr val="382D62"/>
                </a:solidFill>
                <a:latin typeface="Aptos"/>
              </a:rPr>
              <a:t>Doctor View screenshot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99632" y="16320576"/>
            <a:ext cx="5669280" cy="1700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4" b="0">
                <a:solidFill>
                  <a:srgbClr val="657087"/>
                </a:solidFill>
                <a:latin typeface="Aptos"/>
              </a:rPr>
              <a:t>Not captured. A team lead needs to supply a real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99632" y="16485168"/>
            <a:ext cx="5669280" cy="1700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4" b="0">
                <a:solidFill>
                  <a:srgbClr val="657087"/>
                </a:solidFill>
                <a:latin typeface="Aptos"/>
              </a:rPr>
              <a:t>RViz frame or an approved test-video capture.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88352" y="17244761"/>
            <a:ext cx="3364992" cy="1842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1" b="1">
                <a:solidFill>
                  <a:srgbClr val="382D62"/>
                </a:solidFill>
                <a:latin typeface="Aptos"/>
              </a:rPr>
              <a:t>Doctor View — pending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88352" y="17417856"/>
            <a:ext cx="3364992" cy="1700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4" b="0">
                <a:solidFill>
                  <a:srgbClr val="657087"/>
                </a:solidFill>
                <a:latin typeface="Aptos"/>
              </a:rPr>
              <a:t>Do not substitute a generated image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17666208"/>
            <a:ext cx="10972800" cy="256032"/>
          </a:xfrm>
          <a:prstGeom prst="rect">
            <a:avLst/>
          </a:prstGeom>
          <a:solidFill>
            <a:srgbClr val="38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" y="17737896"/>
            <a:ext cx="10058400" cy="1700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4" b="1">
                <a:solidFill>
                  <a:srgbClr val="FFFFFF"/>
                </a:solidFill>
                <a:latin typeface="Aptos"/>
              </a:rPr>
              <a:t>WAYBIONIC · SOFTWARE TEAM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22AEBCB1-4AD0-D66C-ADFE-644E396EC8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474720"/>
            <a:ext cx="10241280" cy="413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650</Words>
  <Application>Microsoft Office PowerPoint</Application>
  <PresentationFormat>Custom</PresentationFormat>
  <Paragraphs>70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khan harris</cp:lastModifiedBy>
  <cp:revision>1</cp:revision>
  <dcterms:created xsi:type="dcterms:W3CDTF">2013-01-27T09:14:16Z</dcterms:created>
  <dcterms:modified xsi:type="dcterms:W3CDTF">2026-10-31T16:54:56Z</dcterms:modified>
  <cp:category/>
</cp:coreProperties>
</file>